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KERNAUSSAGEN IN 60 SEKUNDEN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906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3300"/>
              <a:t>Vollständigkeit und Zeitgerechtigkeit</a:t>
            </a:r>
          </a:p>
          <a:p>
            <a:r>
              <a:rPr sz="3300"/>
              <a:t>bleiben zentrale Versorgungsthemen</a:t>
            </a:r>
          </a:p>
        </p:txBody>
      </p:sp>
      <p:sp>
        <p:nvSpPr>
          <p:cNvPr id="5" name="Shape 3"/>
          <p:cNvSpPr/>
          <p:nvPr/>
        </p:nvSpPr>
        <p:spPr>
          <a:xfrm>
            <a:off x="685800" y="2491740"/>
            <a:ext cx="3352800" cy="2636520"/>
          </a:xfrm>
          <a:prstGeom prst="roundRect">
            <a:avLst>
              <a:gd name="adj" fmla="val 5549"/>
            </a:avLst>
          </a:prstGeom>
          <a:solidFill>
            <a:srgbClr val="FFD500"/>
          </a:solidFill>
          <a:ln w="1524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419600" y="2491740"/>
            <a:ext cx="3352800" cy="2636520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 w="1524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153400" y="2491740"/>
            <a:ext cx="3352800" cy="2636520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 w="1524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52500" y="2781300"/>
            <a:ext cx="228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52500" y="3695700"/>
            <a:ext cx="24384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800"/>
              <a:t>2024 mit 24 Monaten</a:t>
            </a:r>
          </a:p>
          <a:p>
            <a:r>
              <a:rPr sz="1800"/>
              <a:t>vollständig gegen</a:t>
            </a:r>
          </a:p>
          <a:p>
            <a:r>
              <a:rPr sz="1800"/>
              <a:t>Pneumokokken</a:t>
            </a:r>
          </a:p>
          <a:p>
            <a:r>
              <a:rPr sz="1800"/>
              <a:t>geimpft [6]</a:t>
            </a:r>
          </a:p>
        </p:txBody>
      </p:sp>
      <p:sp>
        <p:nvSpPr>
          <p:cNvPr id="10" name="Text 8"/>
          <p:cNvSpPr/>
          <p:nvPr/>
        </p:nvSpPr>
        <p:spPr>
          <a:xfrm>
            <a:off x="952500" y="4610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KV-Impfsurveillance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6300" y="2781300"/>
            <a:ext cx="2286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8 %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86300" y="3695700"/>
            <a:ext cx="2438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/>
              <a:t>der Reifgeborenen bis</a:t>
            </a:r>
          </a:p>
          <a:p>
            <a:r>
              <a:rPr sz="1700"/>
              <a:t>24 Monate ohne dokumentierte</a:t>
            </a:r>
          </a:p>
          <a:p>
            <a:r>
              <a:rPr sz="1700"/>
              <a:t>PCV-Impfung [7]</a:t>
            </a:r>
          </a:p>
        </p:txBody>
      </p:sp>
      <p:sp>
        <p:nvSpPr>
          <p:cNvPr id="13" name="Text 11"/>
          <p:cNvSpPr/>
          <p:nvPr/>
        </p:nvSpPr>
        <p:spPr>
          <a:xfrm>
            <a:off x="4686300" y="4686300"/>
            <a:ext cx="228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InGef-Abrechnungsdaten</a:t>
            </a:r>
          </a:p>
        </p:txBody>
      </p:sp>
      <p:sp>
        <p:nvSpPr>
          <p:cNvPr id="14" name="Text 12"/>
          <p:cNvSpPr/>
          <p:nvPr/>
        </p:nvSpPr>
        <p:spPr>
          <a:xfrm>
            <a:off x="8420100" y="2781300"/>
            <a:ext cx="2362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52,5 %</a:t>
            </a:r>
          </a:p>
        </p:txBody>
      </p:sp>
      <p:sp>
        <p:nvSpPr>
          <p:cNvPr id="15" name="Text 13"/>
          <p:cNvSpPr/>
          <p:nvPr/>
        </p:nvSpPr>
        <p:spPr>
          <a:xfrm>
            <a:off x="8420100" y="3695700"/>
            <a:ext cx="2438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/>
              <a:t>der Frühgeborenen 2020</a:t>
            </a:r>
          </a:p>
          <a:p>
            <a:r>
              <a:rPr sz="1700"/>
              <a:t>bis 24 Monate vollständig</a:t>
            </a:r>
          </a:p>
          <a:p>
            <a:r>
              <a:rPr sz="1700"/>
              <a:t>PCV-geimpft [7]</a:t>
            </a:r>
          </a:p>
        </p:txBody>
      </p:sp>
      <p:sp>
        <p:nvSpPr>
          <p:cNvPr id="16" name="Text 14"/>
          <p:cNvSpPr/>
          <p:nvPr/>
        </p:nvSpPr>
        <p:spPr>
          <a:xfrm>
            <a:off x="8420100" y="468630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InGef-Abrechnungsdaten</a:t>
            </a:r>
          </a:p>
        </p:txBody>
      </p:sp>
      <p:sp>
        <p:nvSpPr>
          <p:cNvPr id="17" name="Shape 15"/>
          <p:cNvSpPr/>
          <p:nvPr/>
        </p:nvSpPr>
        <p:spPr>
          <a:xfrm>
            <a:off x="685800" y="5486400"/>
            <a:ext cx="10820400" cy="609600"/>
          </a:xfrm>
          <a:prstGeom prst="roundRect">
            <a:avLst>
              <a:gd name="adj" fmla="val 18000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90600" y="5623560"/>
            <a:ext cx="102108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/>
              <a:t>Medizinische Einordnung: 685 IPD-Fälle bei 2–17-Jährigen (Jan. 2023–Mitte Dez. 2025) · 18 Todesfälle [1]</a:t>
            </a:r>
          </a:p>
        </p:txBody>
      </p:sp>
      <p:sp>
        <p:nvSpPr>
          <p:cNvPr id="19" name="Text 17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Quellen: [1,6,7].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PNEUMOKOKKEN VERSTEHEN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4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Besiedelung ist häufig – invasive Erkrankung selten,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 potenziell schwer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23900" y="2514600"/>
            <a:ext cx="3086100" cy="1417320"/>
          </a:xfrm>
          <a:prstGeom prst="roundRect">
            <a:avLst>
              <a:gd name="adj" fmla="val 10323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8700" y="27813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&amp; Transmission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3200400"/>
            <a:ext cx="243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 sind ein wichtiges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und tragen zur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Weitergabe bei.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3581400" cy="1325880"/>
          </a:xfrm>
          <a:prstGeom prst="roundRect">
            <a:avLst>
              <a:gd name="adj" fmla="val 11034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0600" y="466344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90600" y="51054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700"/>
              <a:t>klinisch relevante</a:t>
            </a:r>
          </a:p>
          <a:p>
            <a:r>
              <a:rPr sz="1700"/>
              <a:t>Manifestation</a:t>
            </a:r>
          </a:p>
        </p:txBody>
      </p:sp>
      <p:sp>
        <p:nvSpPr>
          <p:cNvPr id="11" name="Shape 9"/>
          <p:cNvSpPr/>
          <p:nvPr/>
        </p:nvSpPr>
        <p:spPr>
          <a:xfrm>
            <a:off x="4953000" y="2743200"/>
            <a:ext cx="2286000" cy="2225040"/>
          </a:xfrm>
          <a:prstGeom prst="roundRect">
            <a:avLst>
              <a:gd name="adj" fmla="val 6575"/>
            </a:avLst>
          </a:prstGeom>
          <a:solidFill>
            <a:srgbClr val="F6E89B"/>
          </a:solidFill>
          <a:ln w="12700">
            <a:solidFill>
              <a:srgbClr val="F6E89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57800" y="31623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40–60 %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57800" y="3749040"/>
            <a:ext cx="17907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asymptomatisch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besiedelt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431292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(&lt;5 Jahre)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77200" y="2971800"/>
            <a:ext cx="3429000" cy="1981200"/>
          </a:xfrm>
          <a:prstGeom prst="roundRect">
            <a:avLst>
              <a:gd name="adj" fmla="val 7385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2000" y="3276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Sepsis &amp; Meningitis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82000" y="3733800"/>
            <a:ext cx="26670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seltener, aber potenziell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besonders schwere invasive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Verläufe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810000" y="3200400"/>
            <a:ext cx="1143000" cy="457200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67200" y="5044440"/>
            <a:ext cx="685800" cy="-624840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239000" y="3886200"/>
            <a:ext cx="838200" cy="0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Schematische Einordnung. Quelle: [1].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 IM WANDEL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75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Impfstofflandschaft verändert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Serotypenlandschaft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jeder Serotyp verhält sich gleich. Impfprogramme reduzieren Erkrankungen durch abgedeckte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 – gleichzeitig kann sich die relative Bedeutung anderer Serotypen verschieben.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" y="297180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FFD500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1100" y="3238500"/>
            <a:ext cx="220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Impfprogramm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7338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Abgedeckte Serotypen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werden seltener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48200" y="297180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D0E4E1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53000" y="32385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Ökologischer Druck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53000" y="37338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Serotypenverteilung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verschiebt sich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58200" y="297180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D9E3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39200" y="323850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39200" y="37338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/ persistierende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 erkennen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10000" y="3810000"/>
            <a:ext cx="685800" cy="0"/>
          </a:xfrm>
          <a:prstGeom prst="line">
            <a:avLst/>
          </a:prstGeom>
          <a:noFill/>
          <a:ln w="63500">
            <a:solidFill>
              <a:srgbClr val="E900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620000" y="3810000"/>
            <a:ext cx="685800" cy="0"/>
          </a:xfrm>
          <a:prstGeom prst="line">
            <a:avLst/>
          </a:prstGeom>
          <a:noFill/>
          <a:ln w="63500">
            <a:solidFill>
              <a:srgbClr val="E9003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5257800"/>
            <a:ext cx="4267200" cy="624840"/>
          </a:xfrm>
          <a:prstGeom prst="roundRect">
            <a:avLst>
              <a:gd name="adj" fmla="val 20488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6300" y="543306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/>
              <a:t>Serotyp 3: 24 % der typisierten IPD-Fälle [1]</a:t>
            </a:r>
          </a:p>
        </p:txBody>
      </p:sp>
      <p:sp>
        <p:nvSpPr>
          <p:cNvPr id="19" name="Shape 17"/>
          <p:cNvSpPr/>
          <p:nvPr/>
        </p:nvSpPr>
        <p:spPr>
          <a:xfrm>
            <a:off x="5257800" y="5257800"/>
            <a:ext cx="6248400" cy="624840"/>
          </a:xfrm>
          <a:prstGeom prst="roundRect">
            <a:avLst>
              <a:gd name="adj" fmla="val 20488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0" y="5433060"/>
            <a:ext cx="579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/>
              <a:t>Serotyp 38: 2023/24 deutlicher Anstieg bei Kindern &lt;2 Jahren [8]</a:t>
            </a:r>
          </a:p>
        </p:txBody>
      </p:sp>
      <p:sp>
        <p:nvSpPr>
          <p:cNvPr id="21" name="Text 19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Quellen: [1,8]. Serotypenverteilungen sind epidemiologische Kenngrößen und keine Aussage zur klinischen Impfstoffwirksamkeit.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03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VALENZ &amp; EVIDENZ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52500"/>
            <a:ext cx="10896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Impfstoffkonzepte, Valenz &amp; Serotypenabdeckung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einordnen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438400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6300" y="27051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Serotypenabdeckung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6300" y="315468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Serotypen sind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enthalten?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543300" y="2438400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33800" y="27051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Immunogenität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33800" y="315468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Immunantwort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ausgelöst?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0" y="2438400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91300" y="27051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Epidemiologie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91300" y="315468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Serotypen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zirkulieren?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258300" y="2438400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48800" y="27051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Klinischer Nutzen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48800" y="315468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Effekte sind für die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Zielgruppe belegt?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23900" y="4381500"/>
            <a:ext cx="10744200" cy="1341120"/>
          </a:xfrm>
          <a:prstGeom prst="roundRect">
            <a:avLst>
              <a:gd name="adj" fmla="val 10909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8700" y="4648200"/>
            <a:ext cx="327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PCV15 als Evidenzbeispiel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8700" y="504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500"/>
              <a:t>PCV15 enthält die 13 Serotypen von PCV13 und zusätzlich 22F und 33F. PCV13 und PCV15 sind für die Säuglingsstandardimpfung</a:t>
            </a:r>
          </a:p>
          <a:p>
            <a:r>
              <a:rPr sz="1500"/>
              <a:t>empfohlen. Immunologische Unterschiede sind nicht automatisch mit höherer klinischer Effektivität gleichzusetzen. [2,4,9,10,11]</a:t>
            </a:r>
          </a:p>
        </p:txBody>
      </p:sp>
      <p:sp>
        <p:nvSpPr>
          <p:cNvPr id="20" name="Shape 18"/>
          <p:cNvSpPr/>
          <p:nvPr/>
        </p:nvSpPr>
        <p:spPr>
          <a:xfrm>
            <a:off x="723900" y="6019800"/>
            <a:ext cx="10744200" cy="419100"/>
          </a:xfrm>
          <a:prstGeom prst="roundRect">
            <a:avLst>
              <a:gd name="adj" fmla="val 30545"/>
            </a:avLst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90600" y="6096000"/>
            <a:ext cx="10210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Merksatz: Valenz beschreibt Serotypenabdeckung – klinischer Nutzen hängt zusätzlich von Wirksamkeit, Epidemiologie und Zielgruppe ab. [1,2,10,11]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STANDARDIMPFUNG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Säuglinge zeitgerecht schützen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866900"/>
            <a:ext cx="1066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2100"/>
              <a:t>STIKO 2026: Für die Grundimmunisierung von Säuglingen werden PCV13 oder PCV15</a:t>
            </a:r>
          </a:p>
          <a:p>
            <a:r>
              <a:rPr sz="2100"/>
              <a:t>empfohlen. [2]</a:t>
            </a:r>
          </a:p>
        </p:txBody>
      </p:sp>
      <p:sp>
        <p:nvSpPr>
          <p:cNvPr id="6" name="Text 4"/>
          <p:cNvSpPr/>
          <p:nvPr/>
        </p:nvSpPr>
        <p:spPr>
          <a:xfrm>
            <a:off x="762000" y="27432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Reifgeborene · 2+1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0" y="3276600"/>
            <a:ext cx="7848600" cy="0"/>
          </a:xfrm>
          <a:prstGeom prst="line">
            <a:avLst/>
          </a:prstGeom>
          <a:noFill/>
          <a:ln w="50800">
            <a:solidFill>
              <a:srgbClr val="B9BEC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236720" y="30099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35780" y="31318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44340" y="36271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9740" y="30099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38800" y="31318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47360" y="36271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26980" y="30099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26040" y="31318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134600" y="36271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44577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Frühgeborene · 3+1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200400" y="4953000"/>
            <a:ext cx="7848600" cy="0"/>
          </a:xfrm>
          <a:prstGeom prst="line">
            <a:avLst/>
          </a:prstGeom>
          <a:noFill/>
          <a:ln w="50800">
            <a:solidFill>
              <a:srgbClr val="B9BEC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36720" y="46863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35780" y="48082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244340" y="53035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84420" y="46863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83480" y="48082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92040" y="53035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9740" y="46863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38800" y="48082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547360" y="53035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26980" y="468630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226040" y="480822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134600" y="530352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5600700"/>
            <a:ext cx="10820400" cy="624840"/>
          </a:xfrm>
          <a:prstGeom prst="roundRect">
            <a:avLst>
              <a:gd name="adj" fmla="val 20488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14400" y="5715000"/>
            <a:ext cx="10363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00"/>
              <a:t>Bei versäumtem oder verschobenem Termin: Impfstatus prüfen → fehlende Dosis erkennen → altersgerechtes Nachholschema prüfen</a:t>
            </a:r>
          </a:p>
          <a:p>
            <a:r>
              <a:rPr sz="1300"/>
              <a:t>→ nächsten Impftermin verbindlich planen [2]</a:t>
            </a:r>
          </a:p>
        </p:txBody>
      </p:sp>
      <p:sp>
        <p:nvSpPr>
          <p:cNvPr id="33" name="Text 31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Quellen: [2,6,7]. Vereinfachte Darstellung; individuelle Nachholimpfung nach aktueller STIKO prüfen.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PRAXIS-FAQ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Häufige Fragen zur Impfversorgung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63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29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5900" y="2499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PCV13 begonnen –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PCV15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fortsetzen?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672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577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643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67300" y="2499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verspätet oder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unvollständig?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486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391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457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8700" y="2499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verändert sich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2 Jahren?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63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29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5900" y="43662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 oder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Vorimpfungen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unklar?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2672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577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643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67300" y="43662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Grunderkrankung 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Therapie 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Immunsuppression?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8486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391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457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48700" y="43662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Risikoimpfungen im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 zuverlässig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umsetzen?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Medizinische Kurzantworten im Kapitel. Quellen: [1,2,4].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4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 ist nicht gleich Risikokind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5900" y="2392680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Immundefekte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angeboren / erworben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9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8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9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95900" y="2392680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Chronische Erkrankungen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9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Asthma als Praxisbeispiel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30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49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0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5900" y="2392680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Anatomische / Fremdkörper-Risiken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0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Cochlea-Implantat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257300" y="4800600"/>
            <a:ext cx="9334500" cy="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Grunderkrankung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25146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517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Schweregrad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3434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805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Therapie /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Immunsuppression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1722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93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010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1381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9829800" y="4312920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966960" y="4495800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Versorgungssituation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685800" y="5524500"/>
            <a:ext cx="10820400" cy="624840"/>
          </a:xfrm>
          <a:prstGeom prst="roundRect">
            <a:avLst>
              <a:gd name="adj" fmla="val 20488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52500" y="566928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STIKO-Indikation prüfen; Alter, Vorimpfungen, Therapie/Immunsuppression und Versorgungssituation bei der Umsetzung berücksichtigen. [1,2]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STIKO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Standardimpfung und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Indikationsimpfung klar trennen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209800"/>
            <a:ext cx="5029200" cy="3505200"/>
          </a:xfrm>
          <a:prstGeom prst="roundRect">
            <a:avLst>
              <a:gd name="adj" fmla="val 4174"/>
            </a:avLst>
          </a:prstGeom>
          <a:solidFill>
            <a:srgbClr val="202527"/>
          </a:solidFill>
          <a:ln w="12700">
            <a:solidFill>
              <a:srgbClr val="7D878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77000" y="2209800"/>
            <a:ext cx="5029200" cy="3505200"/>
          </a:xfrm>
          <a:prstGeom prst="roundRect">
            <a:avLst>
              <a:gd name="adj" fmla="val 4174"/>
            </a:avLst>
          </a:prstGeom>
          <a:solidFill>
            <a:srgbClr val="202527"/>
          </a:solidFill>
          <a:ln w="12700">
            <a:solidFill>
              <a:srgbClr val="7D878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62100" y="251460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Säugling / Kleinkind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33600" y="303276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95400" y="3619500"/>
            <a:ext cx="3810000" cy="85344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752600" y="383286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PCV13 oder PCV15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905000" y="464820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reifgeboren: 2+1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frühgeboren: 3+1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91400" y="2514600"/>
            <a:ext cx="320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 ≥2–17 Jahre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303276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Indikationsimpfung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3467100"/>
            <a:ext cx="3810000" cy="85344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58200" y="3695700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PCV20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429500" y="4572000"/>
            <a:ext cx="312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definierten Risikofaktoren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Vorimpfung &amp; Impfabstände beachten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85800" y="5981700"/>
            <a:ext cx="10820400" cy="426720"/>
          </a:xfrm>
          <a:prstGeom prst="roundRect">
            <a:avLst>
              <a:gd name="adj" fmla="val 30000"/>
            </a:avLst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90600" y="6073140"/>
            <a:ext cx="1021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Merksatz: Alter + Risikoprofil + bisheriger Impfstatus bestimmen die Impfstrategie.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5800" y="641604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Quellen: [1,2,5]. Vereinfachte Darstellung.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PRAXIS-WORKFLOW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Risikokinder erkennen – Impfversorgung aktiv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63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59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Identifizieren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91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500"/>
              <a:t>STIKO-Risikofaktoren</a:t>
            </a:r>
          </a:p>
          <a:p>
            <a:r>
              <a:rPr sz="1500"/>
              <a:t>prüfen [1,2]</a:t>
            </a:r>
          </a:p>
        </p:txBody>
      </p:sp>
      <p:sp>
        <p:nvSpPr>
          <p:cNvPr id="10" name="Shape 8"/>
          <p:cNvSpPr/>
          <p:nvPr/>
        </p:nvSpPr>
        <p:spPr>
          <a:xfrm>
            <a:off x="34671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871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672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804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 &amp;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Risikoimpfungen prüfen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484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389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684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85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Dokumentieren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617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Praxisverwaltungssystem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0297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2202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3497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298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430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Impfungen sichtbar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machen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0955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2860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155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56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Einbestellen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3088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konkreten Impftermin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vereinbaren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8768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0673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1968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6769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Abstimmen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901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Pädiatrie ↔ Facharzt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76581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8486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9781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582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Impfen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8714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 aktiv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übernehmen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4000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90600" y="5867400"/>
            <a:ext cx="10210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Praxis-Workflow – kein individualisierter Impfalgorithmus. Medizinische Grundlage: aktuelle STIKO-Empfehlungen [1,2].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PRAXIS-FÄLLE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9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Situationen, die die Empfehlung greifbar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727960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2040" y="288036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38300" y="269748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Verspätete / unvollständige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2500" y="341376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E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Dosis fehlt – wie geht es weiter?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77000" y="2514600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705600" y="2727960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73240" y="288036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29500" y="269748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600"/>
              <a:t>Kind ≥2 Jahre mit</a:t>
            </a:r>
          </a:p>
          <a:p>
            <a:r>
              <a:rPr sz="1600"/>
              <a:t>Asthma bronchiale</a:t>
            </a:r>
          </a:p>
        </p:txBody>
      </p:sp>
      <p:sp>
        <p:nvSpPr>
          <p:cNvPr id="14" name="Text 12"/>
          <p:cNvSpPr/>
          <p:nvPr/>
        </p:nvSpPr>
        <p:spPr>
          <a:xfrm>
            <a:off x="6743700" y="341376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STIKO-Indikation + Impfstatus prüfen [1,2]</a:t>
            </a:r>
          </a:p>
        </p:txBody>
      </p:sp>
      <p:sp>
        <p:nvSpPr>
          <p:cNvPr id="15" name="Shape 13"/>
          <p:cNvSpPr/>
          <p:nvPr/>
        </p:nvSpPr>
        <p:spPr>
          <a:xfrm>
            <a:off x="685800" y="4457700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4400" y="4671060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2040" y="482346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38300" y="464058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500"/>
              <a:t>Psoriasis ≥2 Jahre unter</a:t>
            </a:r>
          </a:p>
          <a:p>
            <a:r>
              <a:rPr sz="1500"/>
              <a:t>immunsuppressiver Therapie</a:t>
            </a:r>
          </a:p>
        </p:txBody>
      </p:sp>
      <p:sp>
        <p:nvSpPr>
          <p:cNvPr id="19" name="Text 17"/>
          <p:cNvSpPr/>
          <p:nvPr/>
        </p:nvSpPr>
        <p:spPr>
          <a:xfrm>
            <a:off x="952500" y="535686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Immunsuppression + Impfstatus prüfen [1,2]</a:t>
            </a:r>
          </a:p>
        </p:txBody>
      </p:sp>
      <p:sp>
        <p:nvSpPr>
          <p:cNvPr id="20" name="Shape 18"/>
          <p:cNvSpPr/>
          <p:nvPr/>
        </p:nvSpPr>
        <p:spPr>
          <a:xfrm>
            <a:off x="6477000" y="4457700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705600" y="4671060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73240" y="482346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29500" y="4640580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600"/>
              <a:t>Kind ≥2 Jahre mit</a:t>
            </a:r>
          </a:p>
          <a:p>
            <a:r>
              <a:rPr sz="1600"/>
              <a:t>Cochlea-Implantat</a:t>
            </a:r>
          </a:p>
        </p:txBody>
      </p:sp>
      <p:sp>
        <p:nvSpPr>
          <p:cNvPr id="24" name="Text 22"/>
          <p:cNvSpPr/>
          <p:nvPr/>
        </p:nvSpPr>
        <p:spPr>
          <a:xfrm>
            <a:off x="6743700" y="535686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Vorimpfungen + Impfabstände prüfen [1,2]</a:t>
            </a:r>
          </a:p>
        </p:txBody>
      </p:sp>
      <p:sp>
        <p:nvSpPr>
          <p:cNvPr id="25" name="Text 23"/>
          <p:cNvSpPr/>
          <p:nvPr/>
        </p:nvSpPr>
        <p:spPr>
          <a:xfrm>
            <a:off x="685800" y="636270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Fallvignetten: Ausgangssituation → konkrete Frage → nächster Schritt. Medizinische Einordnung: [1,2].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 VERTIEFEN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439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Überblick in die zertifizierte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Fortbildung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38200" y="2110740"/>
            <a:ext cx="10515600" cy="3733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5240">
            <a:solidFill>
              <a:srgbClr val="D8B7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2552700"/>
            <a:ext cx="579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Pneumokokken-Impfung bei</a:t>
            </a:r>
          </a:p>
          <a:p>
            <a:r>
              <a:t>Kindern</a:t>
            </a:r>
          </a:p>
        </p:txBody>
      </p:sp>
      <p:sp>
        <p:nvSpPr>
          <p:cNvPr id="7" name="Text 5"/>
          <p:cNvSpPr/>
          <p:nvPr/>
        </p:nvSpPr>
        <p:spPr>
          <a:xfrm>
            <a:off x="1257300" y="3505200"/>
            <a:ext cx="579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Vertiefen Sie die Evidenz, diskutieren Sie typische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Versorgungssituationen und überprüfen Sie Ihr Wissen im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CME-Modul.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848600" y="2628900"/>
            <a:ext cx="3048000" cy="1219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5800" y="2933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ZUM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CME-MODUL 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57300" y="4572000"/>
            <a:ext cx="3467100" cy="624840"/>
          </a:xfrm>
          <a:prstGeom prst="roundRect">
            <a:avLst>
              <a:gd name="adj" fmla="val 20488"/>
            </a:avLst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62100" y="4739640"/>
            <a:ext cx="2857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Geplant: 2–3 CME-Punkte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4572000"/>
            <a:ext cx="2819400" cy="624840"/>
          </a:xfrm>
          <a:prstGeom prst="roundRect">
            <a:avLst>
              <a:gd name="adj" fmla="val 20488"/>
            </a:avLst>
          </a:prstGeom>
          <a:solidFill>
            <a:srgbClr val="0C7577"/>
          </a:solidFill>
          <a:ln w="12700">
            <a:solidFill>
              <a:srgbClr val="0C75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0" y="4739640"/>
            <a:ext cx="220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Expertenvorträge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53400" y="4572000"/>
            <a:ext cx="2743200" cy="624840"/>
          </a:xfrm>
          <a:prstGeom prst="roundRect">
            <a:avLst>
              <a:gd name="adj" fmla="val 20488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0" y="4739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Lernerfolgskontrolle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6416040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CTA-Mockup. CME-Punkte vorbehaltlich finalem Umfang und Zertifizierung durch die zuständige Ärztekammer.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Vidal MMI Germany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Pneumokokken-Impfung bei Kindern – bearbeitbare Grafiken</dc:title>
  <dc:subject>Bearbeitbare Grafiken – Pneumokokken-Impfung bei Kindern</dc:subject>
  <dc:creator>OpenAI</dc:creator>
  <cp:lastModifiedBy>OpenAI</cp:lastModifiedBy>
  <cp:revision>1</cp:revision>
  <dcterms:created xsi:type="dcterms:W3CDTF">2026-09-14T16:00:50Z</dcterms:created>
  <dcterms:modified xsi:type="dcterms:W3CDTF">2026-09-14T16:00:50Z</dcterms:modified>
</cp:coreProperties>
</file>